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8" r:id="rId5"/>
    <p:sldId id="279" r:id="rId6"/>
    <p:sldId id="272" r:id="rId7"/>
    <p:sldId id="280" r:id="rId8"/>
    <p:sldId id="281" r:id="rId9"/>
    <p:sldId id="282" r:id="rId10"/>
    <p:sldId id="284" r:id="rId11"/>
    <p:sldId id="268" r:id="rId12"/>
    <p:sldId id="291" r:id="rId13"/>
    <p:sldId id="292" r:id="rId14"/>
    <p:sldId id="275" r:id="rId15"/>
    <p:sldId id="285" r:id="rId16"/>
    <p:sldId id="286" r:id="rId17"/>
    <p:sldId id="274" r:id="rId18"/>
    <p:sldId id="276" r:id="rId19"/>
    <p:sldId id="287" r:id="rId20"/>
    <p:sldId id="288" r:id="rId21"/>
    <p:sldId id="289" r:id="rId22"/>
    <p:sldId id="290" r:id="rId23"/>
    <p:sldId id="26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60"/>
  </p:normalViewPr>
  <p:slideViewPr>
    <p:cSldViewPr snapToGrid="0">
      <p:cViewPr varScale="1">
        <p:scale>
          <a:sx n="68" d="100"/>
          <a:sy n="68" d="100"/>
        </p:scale>
        <p:origin x="2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‹Nº›</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smtClean="0"/>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smtClean="0"/>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smtClean="0"/>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11/21/2025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Cliente de Correo Electrónico</a:t>
            </a:r>
            <a:endParaRPr lang="es-ES" dirty="0"/>
          </a:p>
        </p:txBody>
      </p:sp>
      <p:sp>
        <p:nvSpPr>
          <p:cNvPr id="3" name="Subtítulo 2"/>
          <p:cNvSpPr>
            <a:spLocks noGrp="1"/>
          </p:cNvSpPr>
          <p:nvPr>
            <p:ph type="subTitle" idx="1"/>
          </p:nvPr>
        </p:nvSpPr>
        <p:spPr/>
        <p:txBody>
          <a:bodyPr/>
          <a:lstStyle/>
          <a:p>
            <a:r>
              <a:rPr lang="es-ES" dirty="0" smtClean="0"/>
              <a:t>Presentación de defensa</a:t>
            </a:r>
            <a:endParaRPr lang="es-ES" dirty="0"/>
          </a:p>
        </p:txBody>
      </p:sp>
    </p:spTree>
    <p:extLst>
      <p:ext uri="{BB962C8B-B14F-4D97-AF65-F5344CB8AC3E}">
        <p14:creationId xmlns:p14="http://schemas.microsoft.com/office/powerpoint/2010/main" val="2839070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Introducción</a:t>
            </a:r>
            <a:endParaRPr lang="es-ES" dirty="0"/>
          </a:p>
        </p:txBody>
      </p:sp>
      <p:sp>
        <p:nvSpPr>
          <p:cNvPr id="3" name="Marcador de contenido 2"/>
          <p:cNvSpPr>
            <a:spLocks noGrp="1"/>
          </p:cNvSpPr>
          <p:nvPr>
            <p:ph idx="1"/>
          </p:nvPr>
        </p:nvSpPr>
        <p:spPr/>
        <p:txBody>
          <a:bodyPr/>
          <a:lstStyle/>
          <a:p>
            <a:pPr marL="0" indent="0" algn="ctr">
              <a:lnSpc>
                <a:spcPct val="150000"/>
              </a:lnSpc>
              <a:buNone/>
            </a:pPr>
            <a:r>
              <a:rPr lang="es-ES" dirty="0" smtClean="0"/>
              <a:t>El </a:t>
            </a:r>
            <a:r>
              <a:rPr lang="es-ES" dirty="0"/>
              <a:t>presente informe describe la arquitectura del sistema de correo electrónico implementado, el cual simula una red de servidores interconectados mediante una estructura de grafo no dirigido. El sistema soporta el registro de usuarios en servidores específicos, la gestión de mensajes, la organización de carpetas, la priorización de correos urgentes y el filtrado de mensajes entrantes.</a:t>
            </a:r>
          </a:p>
          <a:p>
            <a:endParaRPr lang="es-ES" dirty="0"/>
          </a:p>
        </p:txBody>
      </p:sp>
    </p:spTree>
    <p:extLst>
      <p:ext uri="{BB962C8B-B14F-4D97-AF65-F5344CB8AC3E}">
        <p14:creationId xmlns:p14="http://schemas.microsoft.com/office/powerpoint/2010/main" val="1983058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Estructura y Función de las </a:t>
            </a:r>
            <a:r>
              <a:rPr lang="es-ES" dirty="0" smtClean="0"/>
              <a:t>Clases</a:t>
            </a:r>
            <a:endParaRPr lang="es-ES" dirty="0"/>
          </a:p>
        </p:txBody>
      </p:sp>
      <p:sp>
        <p:nvSpPr>
          <p:cNvPr id="3" name="Marcador de contenido 2"/>
          <p:cNvSpPr>
            <a:spLocks noGrp="1"/>
          </p:cNvSpPr>
          <p:nvPr>
            <p:ph idx="1"/>
          </p:nvPr>
        </p:nvSpPr>
        <p:spPr/>
        <p:txBody>
          <a:bodyPr/>
          <a:lstStyle/>
          <a:p>
            <a:pPr marL="0" indent="0" algn="ctr">
              <a:lnSpc>
                <a:spcPct val="250000"/>
              </a:lnSpc>
              <a:buNone/>
            </a:pPr>
            <a:r>
              <a:rPr lang="es-ES" dirty="0"/>
              <a:t>El sistema se compone de clases organizadas en tres capas funcionales: Data/Estructura, Lógica de Usuario/Servidor, y Lógica de Red.</a:t>
            </a:r>
          </a:p>
        </p:txBody>
      </p:sp>
    </p:spTree>
    <p:extLst>
      <p:ext uri="{BB962C8B-B14F-4D97-AF65-F5344CB8AC3E}">
        <p14:creationId xmlns:p14="http://schemas.microsoft.com/office/powerpoint/2010/main" val="5066736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b="1" dirty="0"/>
              <a:t>Capa de Datos y </a:t>
            </a:r>
            <a:r>
              <a:rPr lang="es-ES" b="1" dirty="0" smtClean="0"/>
              <a:t>Estructuras (clase Mensaje)</a:t>
            </a:r>
            <a:endParaRPr lang="es-ES" dirty="0"/>
          </a:p>
        </p:txBody>
      </p:sp>
      <p:pic>
        <p:nvPicPr>
          <p:cNvPr id="4" name="Marcador de contenido 3"/>
          <p:cNvPicPr>
            <a:picLocks noGrp="1" noChangeAspect="1"/>
          </p:cNvPicPr>
          <p:nvPr>
            <p:ph idx="1"/>
          </p:nvPr>
        </p:nvPicPr>
        <p:blipFill>
          <a:blip r:embed="rId2"/>
          <a:stretch>
            <a:fillRect/>
          </a:stretch>
        </p:blipFill>
        <p:spPr>
          <a:xfrm>
            <a:off x="1453443" y="3939822"/>
            <a:ext cx="9601200" cy="1844259"/>
          </a:xfrm>
          <a:prstGeom prst="rect">
            <a:avLst/>
          </a:prstGeom>
        </p:spPr>
      </p:pic>
      <p:sp>
        <p:nvSpPr>
          <p:cNvPr id="5" name="Marcador de texto 3"/>
          <p:cNvSpPr txBox="1">
            <a:spLocks/>
          </p:cNvSpPr>
          <p:nvPr/>
        </p:nvSpPr>
        <p:spPr>
          <a:xfrm>
            <a:off x="1038578" y="2528711"/>
            <a:ext cx="10016065" cy="1174045"/>
          </a:xfrm>
          <a:prstGeom prst="rect">
            <a:avLst/>
          </a:prstGeom>
        </p:spPr>
        <p:txBody>
          <a:bodyPr>
            <a:normAutofit fontScale="6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nSpc>
                <a:spcPct val="150000"/>
              </a:lnSpc>
              <a:buNone/>
            </a:pPr>
            <a:r>
              <a:rPr lang="es-ES" dirty="0" smtClean="0"/>
              <a:t>Define la unidad de comunicación con atributos como remitente, receptor, asunto, cuerpo y urgencia. Clase Carpeta: Gestiona los mensajes y otras carpetas, formando una estructura de árbol jerárquica para el usuario. Utiliza Listas para el contenido (self.mensajes) y para la subestructura (self.lista_carpetas).</a:t>
            </a:r>
          </a:p>
          <a:p>
            <a:endParaRPr lang="es-ES" dirty="0"/>
          </a:p>
        </p:txBody>
      </p:sp>
    </p:spTree>
    <p:extLst>
      <p:ext uri="{BB962C8B-B14F-4D97-AF65-F5344CB8AC3E}">
        <p14:creationId xmlns:p14="http://schemas.microsoft.com/office/powerpoint/2010/main" val="5718029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1388534"/>
            <a:ext cx="3718455" cy="1106310"/>
          </a:xfrm>
        </p:spPr>
        <p:txBody>
          <a:bodyPr>
            <a:normAutofit fontScale="90000"/>
          </a:bodyPr>
          <a:lstStyle/>
          <a:p>
            <a:r>
              <a:rPr lang="es-ES" b="1" dirty="0"/>
              <a:t>Capa de Datos y Estructuras </a:t>
            </a:r>
            <a:r>
              <a:rPr lang="es-ES" b="1" dirty="0" smtClean="0"/>
              <a:t>(Clase Nodo/ColaDePrioridades)</a:t>
            </a:r>
            <a:endParaRPr lang="es-ES" b="1" dirty="0"/>
          </a:p>
        </p:txBody>
      </p:sp>
      <p:pic>
        <p:nvPicPr>
          <p:cNvPr id="5" name="Marcador de contenido 4"/>
          <p:cNvPicPr>
            <a:picLocks noGrp="1" noChangeAspect="1"/>
          </p:cNvPicPr>
          <p:nvPr>
            <p:ph idx="1"/>
          </p:nvPr>
        </p:nvPicPr>
        <p:blipFill>
          <a:blip r:embed="rId2"/>
          <a:stretch>
            <a:fillRect/>
          </a:stretch>
        </p:blipFill>
        <p:spPr>
          <a:xfrm>
            <a:off x="5621867" y="801511"/>
            <a:ext cx="5554133" cy="5215467"/>
          </a:xfrm>
          <a:prstGeom prst="rect">
            <a:avLst/>
          </a:prstGeom>
        </p:spPr>
      </p:pic>
      <p:sp>
        <p:nvSpPr>
          <p:cNvPr id="4" name="Marcador de texto 3"/>
          <p:cNvSpPr>
            <a:spLocks noGrp="1"/>
          </p:cNvSpPr>
          <p:nvPr>
            <p:ph type="body" sz="half" idx="2"/>
          </p:nvPr>
        </p:nvSpPr>
        <p:spPr>
          <a:xfrm>
            <a:off x="1121038" y="2906887"/>
            <a:ext cx="4063999" cy="1224846"/>
          </a:xfrm>
        </p:spPr>
        <p:txBody>
          <a:bodyPr>
            <a:normAutofit fontScale="92500" lnSpcReduction="20000"/>
          </a:bodyPr>
          <a:lstStyle/>
          <a:p>
            <a:pPr>
              <a:lnSpc>
                <a:spcPct val="110000"/>
              </a:lnSpc>
            </a:pPr>
            <a:r>
              <a:rPr lang="es-ES" dirty="0"/>
              <a:t>Implementa </a:t>
            </a:r>
            <a:r>
              <a:rPr lang="es-ES" dirty="0" smtClean="0"/>
              <a:t>una clase Nodo que proporciona una estructura, y la clase ColaDePrioridades que contiene las funciones para manipular dicha estructura. Todo esto mediante </a:t>
            </a:r>
            <a:r>
              <a:rPr lang="es-ES" dirty="0"/>
              <a:t>una lista enlazada para gestionar mensajes urgentes</a:t>
            </a:r>
            <a:r>
              <a:rPr lang="es-ES" dirty="0" smtClean="0"/>
              <a:t>.</a:t>
            </a:r>
            <a:endParaRPr lang="es-ES" dirty="0"/>
          </a:p>
          <a:p>
            <a:endParaRPr lang="es-ES" dirty="0"/>
          </a:p>
        </p:txBody>
      </p:sp>
      <p:pic>
        <p:nvPicPr>
          <p:cNvPr id="8" name="Imagen 7"/>
          <p:cNvPicPr>
            <a:picLocks noChangeAspect="1"/>
          </p:cNvPicPr>
          <p:nvPr/>
        </p:nvPicPr>
        <p:blipFill>
          <a:blip r:embed="rId3"/>
          <a:stretch>
            <a:fillRect/>
          </a:stretch>
        </p:blipFill>
        <p:spPr>
          <a:xfrm>
            <a:off x="880289" y="4368800"/>
            <a:ext cx="4545496" cy="1648178"/>
          </a:xfrm>
          <a:prstGeom prst="rect">
            <a:avLst/>
          </a:prstGeom>
        </p:spPr>
      </p:pic>
    </p:spTree>
    <p:extLst>
      <p:ext uri="{BB962C8B-B14F-4D97-AF65-F5344CB8AC3E}">
        <p14:creationId xmlns:p14="http://schemas.microsoft.com/office/powerpoint/2010/main" val="12592703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8033" y="1061156"/>
            <a:ext cx="3944233" cy="1371600"/>
          </a:xfrm>
        </p:spPr>
        <p:txBody>
          <a:bodyPr>
            <a:normAutofit/>
          </a:bodyPr>
          <a:lstStyle/>
          <a:p>
            <a:r>
              <a:rPr lang="es-ES" b="1" dirty="0"/>
              <a:t>Diccionario (</a:t>
            </a:r>
            <a:r>
              <a:rPr lang="es-ES" b="1" dirty="0" err="1"/>
              <a:t>self.reglas_filtro</a:t>
            </a:r>
            <a:r>
              <a:rPr lang="es-ES" b="1" dirty="0"/>
              <a:t> en Usuario)</a:t>
            </a:r>
            <a:endParaRPr lang="es-ES" b="1" dirty="0"/>
          </a:p>
        </p:txBody>
      </p:sp>
      <p:sp>
        <p:nvSpPr>
          <p:cNvPr id="4" name="Marcador de texto 3"/>
          <p:cNvSpPr>
            <a:spLocks noGrp="1"/>
          </p:cNvSpPr>
          <p:nvPr>
            <p:ph type="body" sz="half" idx="2"/>
          </p:nvPr>
        </p:nvSpPr>
        <p:spPr/>
        <p:txBody>
          <a:bodyPr>
            <a:normAutofit lnSpcReduction="10000"/>
          </a:bodyPr>
          <a:lstStyle/>
          <a:p>
            <a:pPr>
              <a:lnSpc>
                <a:spcPct val="200000"/>
              </a:lnSpc>
            </a:pPr>
            <a:r>
              <a:rPr lang="es-ES" dirty="0"/>
              <a:t>Proporciona un mecanismo de mapeo rápido y directo entre el nombre de una carpeta y su regla de filtrado asociada, permitiendo la aplicación de filtros en tiempo casi constante.</a:t>
            </a:r>
            <a:endParaRPr lang="es-ES" dirty="0"/>
          </a:p>
        </p:txBody>
      </p:sp>
      <p:pic>
        <p:nvPicPr>
          <p:cNvPr id="5" name="Imagen 4"/>
          <p:cNvPicPr>
            <a:picLocks noChangeAspect="1"/>
          </p:cNvPicPr>
          <p:nvPr/>
        </p:nvPicPr>
        <p:blipFill>
          <a:blip r:embed="rId2"/>
          <a:stretch>
            <a:fillRect/>
          </a:stretch>
        </p:blipFill>
        <p:spPr>
          <a:xfrm>
            <a:off x="5418668" y="2731911"/>
            <a:ext cx="5725324" cy="1049561"/>
          </a:xfrm>
          <a:prstGeom prst="rect">
            <a:avLst/>
          </a:prstGeom>
        </p:spPr>
      </p:pic>
    </p:spTree>
    <p:extLst>
      <p:ext uri="{BB962C8B-B14F-4D97-AF65-F5344CB8AC3E}">
        <p14:creationId xmlns:p14="http://schemas.microsoft.com/office/powerpoint/2010/main" val="205480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2800" b="1" dirty="0"/>
              <a:t>Capa Lógica clase Usuario</a:t>
            </a:r>
          </a:p>
        </p:txBody>
      </p:sp>
      <p:pic>
        <p:nvPicPr>
          <p:cNvPr id="5" name="Marcador de contenido 4"/>
          <p:cNvPicPr>
            <a:picLocks noGrp="1" noChangeAspect="1"/>
          </p:cNvPicPr>
          <p:nvPr>
            <p:ph idx="1"/>
          </p:nvPr>
        </p:nvPicPr>
        <p:blipFill>
          <a:blip r:embed="rId2"/>
          <a:stretch>
            <a:fillRect/>
          </a:stretch>
        </p:blipFill>
        <p:spPr>
          <a:xfrm>
            <a:off x="5012266" y="1862666"/>
            <a:ext cx="6237641" cy="3013993"/>
          </a:xfrm>
          <a:prstGeom prst="rect">
            <a:avLst/>
          </a:prstGeom>
        </p:spPr>
      </p:pic>
      <p:sp>
        <p:nvSpPr>
          <p:cNvPr id="4" name="Marcador de texto 3"/>
          <p:cNvSpPr>
            <a:spLocks noGrp="1"/>
          </p:cNvSpPr>
          <p:nvPr>
            <p:ph type="body" sz="half" idx="2"/>
          </p:nvPr>
        </p:nvSpPr>
        <p:spPr/>
        <p:txBody>
          <a:bodyPr/>
          <a:lstStyle/>
          <a:p>
            <a:pPr>
              <a:lnSpc>
                <a:spcPct val="200000"/>
              </a:lnSpc>
            </a:pPr>
            <a:r>
              <a:rPr lang="es-ES" dirty="0"/>
              <a:t>Representa la cuenta individual. Es responsable de la organización interna del correo.</a:t>
            </a:r>
          </a:p>
          <a:p>
            <a:endParaRPr lang="es-ES" dirty="0"/>
          </a:p>
        </p:txBody>
      </p:sp>
    </p:spTree>
    <p:extLst>
      <p:ext uri="{BB962C8B-B14F-4D97-AF65-F5344CB8AC3E}">
        <p14:creationId xmlns:p14="http://schemas.microsoft.com/office/powerpoint/2010/main" val="31076254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1388533"/>
            <a:ext cx="3718455" cy="1140177"/>
          </a:xfrm>
        </p:spPr>
        <p:txBody>
          <a:bodyPr>
            <a:normAutofit/>
          </a:bodyPr>
          <a:lstStyle/>
          <a:p>
            <a:r>
              <a:rPr lang="es-ES" sz="2800" b="1" dirty="0" smtClean="0"/>
              <a:t>Clase Usuario(Filtros 1)</a:t>
            </a:r>
            <a:endParaRPr lang="es-ES" sz="2800" b="1" dirty="0"/>
          </a:p>
        </p:txBody>
      </p:sp>
      <p:sp>
        <p:nvSpPr>
          <p:cNvPr id="4" name="Marcador de texto 3"/>
          <p:cNvSpPr>
            <a:spLocks noGrp="1"/>
          </p:cNvSpPr>
          <p:nvPr>
            <p:ph type="body" sz="half" idx="2"/>
          </p:nvPr>
        </p:nvSpPr>
        <p:spPr/>
        <p:txBody>
          <a:bodyPr/>
          <a:lstStyle/>
          <a:p>
            <a:pPr>
              <a:lnSpc>
                <a:spcPct val="200000"/>
              </a:lnSpc>
            </a:pPr>
            <a:r>
              <a:rPr lang="es-ES" dirty="0" smtClean="0"/>
              <a:t>Métodos para agregar las reglas de filtros según los asuntos o remitentes ingresados, y para aplicar dichas reglas al buzón de entrada.</a:t>
            </a:r>
            <a:endParaRPr lang="es-ES" dirty="0"/>
          </a:p>
        </p:txBody>
      </p:sp>
      <p:pic>
        <p:nvPicPr>
          <p:cNvPr id="6" name="Imagen 5"/>
          <p:cNvPicPr>
            <a:picLocks noChangeAspect="1"/>
          </p:cNvPicPr>
          <p:nvPr/>
        </p:nvPicPr>
        <p:blipFill>
          <a:blip r:embed="rId2"/>
          <a:stretch>
            <a:fillRect/>
          </a:stretch>
        </p:blipFill>
        <p:spPr>
          <a:xfrm>
            <a:off x="5780745" y="666488"/>
            <a:ext cx="5225922" cy="5549546"/>
          </a:xfrm>
          <a:prstGeom prst="rect">
            <a:avLst/>
          </a:prstGeom>
        </p:spPr>
      </p:pic>
    </p:spTree>
    <p:extLst>
      <p:ext uri="{BB962C8B-B14F-4D97-AF65-F5344CB8AC3E}">
        <p14:creationId xmlns:p14="http://schemas.microsoft.com/office/powerpoint/2010/main" val="47303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1174045"/>
            <a:ext cx="3718455" cy="1371600"/>
          </a:xfrm>
        </p:spPr>
        <p:txBody>
          <a:bodyPr>
            <a:normAutofit/>
          </a:bodyPr>
          <a:lstStyle/>
          <a:p>
            <a:pPr>
              <a:lnSpc>
                <a:spcPct val="150000"/>
              </a:lnSpc>
            </a:pPr>
            <a:r>
              <a:rPr lang="es-ES" sz="2800" b="1" dirty="0"/>
              <a:t>Clase </a:t>
            </a:r>
            <a:r>
              <a:rPr lang="es-ES" sz="2800" b="1" dirty="0" smtClean="0"/>
              <a:t>Usuario(Filtros 2)</a:t>
            </a:r>
            <a:endParaRPr lang="es-ES" sz="2800" dirty="0"/>
          </a:p>
        </p:txBody>
      </p:sp>
      <p:pic>
        <p:nvPicPr>
          <p:cNvPr id="5" name="Marcador de contenido 4"/>
          <p:cNvPicPr>
            <a:picLocks noGrp="1" noChangeAspect="1"/>
          </p:cNvPicPr>
          <p:nvPr>
            <p:ph idx="1"/>
          </p:nvPr>
        </p:nvPicPr>
        <p:blipFill>
          <a:blip r:embed="rId2"/>
          <a:stretch>
            <a:fillRect/>
          </a:stretch>
        </p:blipFill>
        <p:spPr>
          <a:xfrm>
            <a:off x="5700889" y="756357"/>
            <a:ext cx="5147733" cy="5396088"/>
          </a:xfrm>
          <a:prstGeom prst="rect">
            <a:avLst/>
          </a:prstGeom>
        </p:spPr>
      </p:pic>
      <p:sp>
        <p:nvSpPr>
          <p:cNvPr id="4" name="Marcador de texto 3"/>
          <p:cNvSpPr>
            <a:spLocks noGrp="1"/>
          </p:cNvSpPr>
          <p:nvPr>
            <p:ph type="body" sz="half" idx="2"/>
          </p:nvPr>
        </p:nvSpPr>
        <p:spPr/>
        <p:txBody>
          <a:bodyPr/>
          <a:lstStyle/>
          <a:p>
            <a:pPr>
              <a:lnSpc>
                <a:spcPct val="200000"/>
              </a:lnSpc>
            </a:pPr>
            <a:r>
              <a:rPr lang="es-ES" dirty="0" smtClean="0"/>
              <a:t>Funciones para la visualización de los filtros hechos por asunto y los hechos por remitentes. Además la función para la eliminación de filtros.</a:t>
            </a:r>
            <a:endParaRPr lang="es-ES" dirty="0"/>
          </a:p>
        </p:txBody>
      </p:sp>
    </p:spTree>
    <p:extLst>
      <p:ext uri="{BB962C8B-B14F-4D97-AF65-F5344CB8AC3E}">
        <p14:creationId xmlns:p14="http://schemas.microsoft.com/office/powerpoint/2010/main" val="35021273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90222" y="914400"/>
            <a:ext cx="4447822" cy="523220"/>
          </a:xfrm>
          <a:prstGeom prst="rect">
            <a:avLst/>
          </a:prstGeom>
        </p:spPr>
        <p:txBody>
          <a:bodyPr wrap="square">
            <a:spAutoFit/>
          </a:bodyPr>
          <a:lstStyle/>
          <a:p>
            <a:r>
              <a:rPr lang="es-ES" sz="2800" b="1" dirty="0"/>
              <a:t>Capa Lógica clase Servidor</a:t>
            </a:r>
          </a:p>
        </p:txBody>
      </p:sp>
      <p:sp>
        <p:nvSpPr>
          <p:cNvPr id="4" name="CuadroTexto 3"/>
          <p:cNvSpPr txBox="1"/>
          <p:nvPr/>
        </p:nvSpPr>
        <p:spPr>
          <a:xfrm>
            <a:off x="1569155" y="2302933"/>
            <a:ext cx="2889956" cy="3139321"/>
          </a:xfrm>
          <a:prstGeom prst="rect">
            <a:avLst/>
          </a:prstGeom>
          <a:noFill/>
        </p:spPr>
        <p:txBody>
          <a:bodyPr wrap="square" rtlCol="0">
            <a:spAutoFit/>
          </a:bodyPr>
          <a:lstStyle/>
          <a:p>
            <a:pPr algn="ctr"/>
            <a:r>
              <a:rPr lang="es-ES" dirty="0"/>
              <a:t>Actúa como el host de las cuentas de correo para un dominio específico (por ejemplo, Guernica).</a:t>
            </a:r>
          </a:p>
          <a:p>
            <a:pPr algn="ctr"/>
            <a:r>
              <a:rPr lang="es-ES" dirty="0"/>
              <a:t>Gestión de Cuentas: registrar_registrar e ingresar_usuario.</a:t>
            </a:r>
          </a:p>
          <a:p>
            <a:pPr algn="ctr"/>
            <a:r>
              <a:rPr lang="es-ES" dirty="0"/>
              <a:t>Entrega Local: enviar_msj para depositar el mensaje en el buzón del usuario dentro de ese mismo servidor.</a:t>
            </a:r>
            <a:endParaRPr lang="es-ES" dirty="0"/>
          </a:p>
        </p:txBody>
      </p:sp>
      <p:cxnSp>
        <p:nvCxnSpPr>
          <p:cNvPr id="6" name="Conector recto 5"/>
          <p:cNvCxnSpPr/>
          <p:nvPr/>
        </p:nvCxnSpPr>
        <p:spPr>
          <a:xfrm flipV="1">
            <a:off x="970845" y="1670756"/>
            <a:ext cx="3849511" cy="1128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Imagen 6"/>
          <p:cNvPicPr>
            <a:picLocks noChangeAspect="1"/>
          </p:cNvPicPr>
          <p:nvPr/>
        </p:nvPicPr>
        <p:blipFill>
          <a:blip r:embed="rId2"/>
          <a:stretch>
            <a:fillRect/>
          </a:stretch>
        </p:blipFill>
        <p:spPr>
          <a:xfrm>
            <a:off x="5497690" y="914400"/>
            <a:ext cx="5755391" cy="5246065"/>
          </a:xfrm>
          <a:prstGeom prst="rect">
            <a:avLst/>
          </a:prstGeom>
        </p:spPr>
      </p:pic>
    </p:spTree>
    <p:extLst>
      <p:ext uri="{BB962C8B-B14F-4D97-AF65-F5344CB8AC3E}">
        <p14:creationId xmlns:p14="http://schemas.microsoft.com/office/powerpoint/2010/main" val="19480191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b="1" dirty="0"/>
              <a:t>Árbol General (Clase Carpeta)</a:t>
            </a:r>
            <a:endParaRPr lang="es-ES" dirty="0"/>
          </a:p>
        </p:txBody>
      </p:sp>
      <p:sp>
        <p:nvSpPr>
          <p:cNvPr id="3" name="Subtítulo 2"/>
          <p:cNvSpPr>
            <a:spLocks noGrp="1"/>
          </p:cNvSpPr>
          <p:nvPr>
            <p:ph type="subTitle" idx="1"/>
          </p:nvPr>
        </p:nvSpPr>
        <p:spPr/>
        <p:txBody>
          <a:bodyPr>
            <a:normAutofit lnSpcReduction="10000"/>
          </a:bodyPr>
          <a:lstStyle/>
          <a:p>
            <a:r>
              <a:rPr lang="es-ES" dirty="0"/>
              <a:t>Permite una estructura jerárquica natural para organizar carpetas y subcarpetas ilimitadas. Los métodos para mover y buscar mensajes se implementan de forma recursiva, optimizando la exploración de la estructura.</a:t>
            </a:r>
            <a:endParaRPr lang="es-ES" dirty="0"/>
          </a:p>
        </p:txBody>
      </p:sp>
    </p:spTree>
    <p:extLst>
      <p:ext uri="{BB962C8B-B14F-4D97-AF65-F5344CB8AC3E}">
        <p14:creationId xmlns:p14="http://schemas.microsoft.com/office/powerpoint/2010/main" val="14472889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0" y="1128890"/>
            <a:ext cx="3718455" cy="1371600"/>
          </a:xfrm>
        </p:spPr>
        <p:txBody>
          <a:bodyPr>
            <a:normAutofit/>
          </a:bodyPr>
          <a:lstStyle/>
          <a:p>
            <a:pPr>
              <a:lnSpc>
                <a:spcPct val="200000"/>
              </a:lnSpc>
            </a:pPr>
            <a:r>
              <a:rPr lang="es-ES" sz="2800" b="1" dirty="0" smtClean="0"/>
              <a:t>Clase Carpeta</a:t>
            </a:r>
            <a:endParaRPr lang="es-ES" sz="2800" b="1" dirty="0"/>
          </a:p>
        </p:txBody>
      </p:sp>
      <p:pic>
        <p:nvPicPr>
          <p:cNvPr id="5" name="Marcador de contenido 4"/>
          <p:cNvPicPr>
            <a:picLocks noGrp="1" noChangeAspect="1"/>
          </p:cNvPicPr>
          <p:nvPr>
            <p:ph idx="1"/>
          </p:nvPr>
        </p:nvPicPr>
        <p:blipFill>
          <a:blip r:embed="rId2"/>
          <a:stretch>
            <a:fillRect/>
          </a:stretch>
        </p:blipFill>
        <p:spPr>
          <a:xfrm>
            <a:off x="5460982" y="745067"/>
            <a:ext cx="5692440" cy="5396089"/>
          </a:xfrm>
          <a:prstGeom prst="rect">
            <a:avLst/>
          </a:prstGeom>
        </p:spPr>
      </p:pic>
      <p:sp>
        <p:nvSpPr>
          <p:cNvPr id="4" name="Marcador de texto 3"/>
          <p:cNvSpPr>
            <a:spLocks noGrp="1"/>
          </p:cNvSpPr>
          <p:nvPr>
            <p:ph type="body" sz="half" idx="2"/>
          </p:nvPr>
        </p:nvSpPr>
        <p:spPr/>
        <p:txBody>
          <a:bodyPr/>
          <a:lstStyle/>
          <a:p>
            <a:pPr>
              <a:lnSpc>
                <a:spcPct val="150000"/>
              </a:lnSpc>
            </a:pPr>
            <a:r>
              <a:rPr lang="es-ES" dirty="0"/>
              <a:t>Permite una estructura jerárquica natural para organizar carpetas y subcarpetas ilimitadas. Los métodos para mover y buscar mensajes se implementan de forma recursiva, optimizando la exploración de la estructura.</a:t>
            </a:r>
          </a:p>
          <a:p>
            <a:endParaRPr lang="es-ES" dirty="0"/>
          </a:p>
        </p:txBody>
      </p:sp>
    </p:spTree>
    <p:extLst>
      <p:ext uri="{BB962C8B-B14F-4D97-AF65-F5344CB8AC3E}">
        <p14:creationId xmlns:p14="http://schemas.microsoft.com/office/powerpoint/2010/main" val="25881868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nSpc>
                <a:spcPct val="150000"/>
              </a:lnSpc>
            </a:pPr>
            <a:r>
              <a:rPr lang="es-ES" sz="2800" b="1" dirty="0" smtClean="0"/>
              <a:t>Clase Carpeta(Sección Mensajes)</a:t>
            </a:r>
            <a:endParaRPr lang="es-ES" sz="2800" b="1" dirty="0"/>
          </a:p>
        </p:txBody>
      </p:sp>
      <p:sp>
        <p:nvSpPr>
          <p:cNvPr id="4" name="Marcador de texto 3"/>
          <p:cNvSpPr>
            <a:spLocks noGrp="1"/>
          </p:cNvSpPr>
          <p:nvPr>
            <p:ph type="body" sz="half" idx="2"/>
          </p:nvPr>
        </p:nvSpPr>
        <p:spPr/>
        <p:txBody>
          <a:bodyPr/>
          <a:lstStyle/>
          <a:p>
            <a:pPr>
              <a:lnSpc>
                <a:spcPct val="200000"/>
              </a:lnSpc>
            </a:pPr>
            <a:r>
              <a:rPr lang="es-ES" dirty="0"/>
              <a:t>Los métodos para mover y buscar mensajes se implementan de forma recursiva, optimizando la exploración de la estructura.</a:t>
            </a:r>
          </a:p>
          <a:p>
            <a:endParaRPr lang="es-ES" dirty="0"/>
          </a:p>
        </p:txBody>
      </p:sp>
      <p:pic>
        <p:nvPicPr>
          <p:cNvPr id="6" name="Imagen 5"/>
          <p:cNvPicPr>
            <a:picLocks noChangeAspect="1"/>
          </p:cNvPicPr>
          <p:nvPr/>
        </p:nvPicPr>
        <p:blipFill>
          <a:blip r:embed="rId2"/>
          <a:stretch>
            <a:fillRect/>
          </a:stretch>
        </p:blipFill>
        <p:spPr>
          <a:xfrm>
            <a:off x="5667023" y="699911"/>
            <a:ext cx="5091289" cy="5508978"/>
          </a:xfrm>
          <a:prstGeom prst="rect">
            <a:avLst/>
          </a:prstGeom>
        </p:spPr>
      </p:pic>
    </p:spTree>
    <p:extLst>
      <p:ext uri="{BB962C8B-B14F-4D97-AF65-F5344CB8AC3E}">
        <p14:creationId xmlns:p14="http://schemas.microsoft.com/office/powerpoint/2010/main" val="34160470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Red de Grafo</a:t>
            </a:r>
            <a:endParaRPr lang="es-ES" dirty="0"/>
          </a:p>
        </p:txBody>
      </p:sp>
      <p:sp>
        <p:nvSpPr>
          <p:cNvPr id="3" name="Subtítulo 2"/>
          <p:cNvSpPr>
            <a:spLocks noGrp="1"/>
          </p:cNvSpPr>
          <p:nvPr>
            <p:ph type="subTitle" idx="1"/>
          </p:nvPr>
        </p:nvSpPr>
        <p:spPr/>
        <p:txBody>
          <a:bodyPr/>
          <a:lstStyle/>
          <a:p>
            <a:r>
              <a:rPr lang="es-ES" dirty="0" smtClean="0"/>
              <a:t>Implementación de la red de grafos</a:t>
            </a:r>
            <a:endParaRPr lang="es-ES" dirty="0"/>
          </a:p>
        </p:txBody>
      </p:sp>
    </p:spTree>
    <p:extLst>
      <p:ext uri="{BB962C8B-B14F-4D97-AF65-F5344CB8AC3E}">
        <p14:creationId xmlns:p14="http://schemas.microsoft.com/office/powerpoint/2010/main" val="29729569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a:t>Capa de Red y Conectividad</a:t>
            </a:r>
          </a:p>
        </p:txBody>
      </p:sp>
      <p:sp>
        <p:nvSpPr>
          <p:cNvPr id="3" name="Subtítulo 2"/>
          <p:cNvSpPr>
            <a:spLocks noGrp="1"/>
          </p:cNvSpPr>
          <p:nvPr>
            <p:ph type="subTitle" idx="1"/>
          </p:nvPr>
        </p:nvSpPr>
        <p:spPr/>
        <p:txBody>
          <a:bodyPr/>
          <a:lstStyle/>
          <a:p>
            <a:r>
              <a:rPr lang="es-ES" dirty="0" smtClean="0"/>
              <a:t>Primera Instancia del grafo.</a:t>
            </a:r>
            <a:endParaRPr lang="es-ES" dirty="0"/>
          </a:p>
        </p:txBody>
      </p:sp>
    </p:spTree>
    <p:extLst>
      <p:ext uri="{BB962C8B-B14F-4D97-AF65-F5344CB8AC3E}">
        <p14:creationId xmlns:p14="http://schemas.microsoft.com/office/powerpoint/2010/main" val="2875610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21276" y="961077"/>
            <a:ext cx="3718455" cy="1371600"/>
          </a:xfrm>
        </p:spPr>
        <p:txBody>
          <a:bodyPr>
            <a:normAutofit/>
          </a:bodyPr>
          <a:lstStyle/>
          <a:p>
            <a:r>
              <a:rPr lang="es-ES" sz="2800" b="1" dirty="0"/>
              <a:t>Clase RedServidores</a:t>
            </a:r>
          </a:p>
        </p:txBody>
      </p:sp>
      <p:pic>
        <p:nvPicPr>
          <p:cNvPr id="5" name="Marcador de contenido 4"/>
          <p:cNvPicPr>
            <a:picLocks noGrp="1" noChangeAspect="1"/>
          </p:cNvPicPr>
          <p:nvPr>
            <p:ph idx="1"/>
          </p:nvPr>
        </p:nvPicPr>
        <p:blipFill>
          <a:blip r:embed="rId2"/>
          <a:stretch>
            <a:fillRect/>
          </a:stretch>
        </p:blipFill>
        <p:spPr>
          <a:xfrm>
            <a:off x="4933244" y="649594"/>
            <a:ext cx="6494010" cy="5581872"/>
          </a:xfrm>
          <a:prstGeom prst="rect">
            <a:avLst/>
          </a:prstGeom>
        </p:spPr>
      </p:pic>
      <p:sp>
        <p:nvSpPr>
          <p:cNvPr id="4" name="Marcador de texto 3"/>
          <p:cNvSpPr>
            <a:spLocks noGrp="1"/>
          </p:cNvSpPr>
          <p:nvPr>
            <p:ph type="body" sz="half" idx="2"/>
          </p:nvPr>
        </p:nvSpPr>
        <p:spPr>
          <a:xfrm>
            <a:off x="829732" y="2972560"/>
            <a:ext cx="3860800" cy="1134535"/>
          </a:xfrm>
        </p:spPr>
        <p:txBody>
          <a:bodyPr>
            <a:normAutofit/>
          </a:bodyPr>
          <a:lstStyle/>
          <a:p>
            <a:r>
              <a:rPr lang="es-ES" dirty="0"/>
              <a:t>Modela la conectividad bidireccional de la infraestructura de servidores, lo cual es fundamental para el enrutamiento de mensajes.</a:t>
            </a:r>
            <a:endParaRPr lang="es-ES" dirty="0"/>
          </a:p>
        </p:txBody>
      </p:sp>
      <p:pic>
        <p:nvPicPr>
          <p:cNvPr id="6" name="Imagen 5"/>
          <p:cNvPicPr>
            <a:picLocks noChangeAspect="1"/>
          </p:cNvPicPr>
          <p:nvPr/>
        </p:nvPicPr>
        <p:blipFill>
          <a:blip r:embed="rId3"/>
          <a:stretch>
            <a:fillRect/>
          </a:stretch>
        </p:blipFill>
        <p:spPr>
          <a:xfrm>
            <a:off x="729365" y="4107095"/>
            <a:ext cx="4102279" cy="2011483"/>
          </a:xfrm>
          <a:prstGeom prst="rect">
            <a:avLst/>
          </a:prstGeom>
        </p:spPr>
      </p:pic>
    </p:spTree>
    <p:extLst>
      <p:ext uri="{BB962C8B-B14F-4D97-AF65-F5344CB8AC3E}">
        <p14:creationId xmlns:p14="http://schemas.microsoft.com/office/powerpoint/2010/main" val="34903101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nSpc>
                <a:spcPct val="150000"/>
              </a:lnSpc>
            </a:pPr>
            <a:r>
              <a:rPr lang="es-ES" sz="2800" b="1" dirty="0" smtClean="0"/>
              <a:t>Nodo Servidor</a:t>
            </a:r>
            <a:r>
              <a:rPr lang="es-ES" dirty="0"/>
              <a:t/>
            </a:r>
            <a:br>
              <a:rPr lang="es-ES" dirty="0"/>
            </a:br>
            <a:endParaRPr lang="es-ES" dirty="0"/>
          </a:p>
        </p:txBody>
      </p:sp>
      <p:sp>
        <p:nvSpPr>
          <p:cNvPr id="4" name="Marcador de texto 3"/>
          <p:cNvSpPr>
            <a:spLocks noGrp="1"/>
          </p:cNvSpPr>
          <p:nvPr>
            <p:ph type="body" sz="half" idx="2"/>
          </p:nvPr>
        </p:nvSpPr>
        <p:spPr>
          <a:xfrm>
            <a:off x="1293811" y="2918176"/>
            <a:ext cx="3718455" cy="2438404"/>
          </a:xfrm>
        </p:spPr>
        <p:txBody>
          <a:bodyPr/>
          <a:lstStyle/>
          <a:p>
            <a:r>
              <a:rPr lang="es-ES" dirty="0"/>
              <a:t>Clase NodoServidor: Adapta un objeto Servidor para ser un nodo en el grafo de la red.</a:t>
            </a:r>
          </a:p>
        </p:txBody>
      </p:sp>
      <p:pic>
        <p:nvPicPr>
          <p:cNvPr id="6" name="Imagen 5"/>
          <p:cNvPicPr>
            <a:picLocks noChangeAspect="1"/>
          </p:cNvPicPr>
          <p:nvPr/>
        </p:nvPicPr>
        <p:blipFill>
          <a:blip r:embed="rId2"/>
          <a:stretch>
            <a:fillRect/>
          </a:stretch>
        </p:blipFill>
        <p:spPr>
          <a:xfrm>
            <a:off x="5836159" y="2246489"/>
            <a:ext cx="5087386" cy="2322242"/>
          </a:xfrm>
          <a:prstGeom prst="rect">
            <a:avLst/>
          </a:prstGeom>
        </p:spPr>
      </p:pic>
    </p:spTree>
    <p:extLst>
      <p:ext uri="{BB962C8B-B14F-4D97-AF65-F5344CB8AC3E}">
        <p14:creationId xmlns:p14="http://schemas.microsoft.com/office/powerpoint/2010/main" val="32170309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1" y="1388534"/>
            <a:ext cx="3718455" cy="1241777"/>
          </a:xfrm>
        </p:spPr>
        <p:txBody>
          <a:bodyPr>
            <a:normAutofit/>
          </a:bodyPr>
          <a:lstStyle/>
          <a:p>
            <a:pPr>
              <a:lnSpc>
                <a:spcPct val="150000"/>
              </a:lnSpc>
            </a:pPr>
            <a:r>
              <a:rPr lang="es-ES" sz="2800" b="1" dirty="0" smtClean="0"/>
              <a:t>Clase Conexión</a:t>
            </a:r>
            <a:endParaRPr lang="es-ES" sz="2800" b="1" dirty="0"/>
          </a:p>
        </p:txBody>
      </p:sp>
      <p:pic>
        <p:nvPicPr>
          <p:cNvPr id="5" name="Marcador de contenido 4"/>
          <p:cNvPicPr>
            <a:picLocks noGrp="1" noChangeAspect="1"/>
          </p:cNvPicPr>
          <p:nvPr>
            <p:ph idx="1"/>
          </p:nvPr>
        </p:nvPicPr>
        <p:blipFill>
          <a:blip r:embed="rId2"/>
          <a:stretch>
            <a:fillRect/>
          </a:stretch>
        </p:blipFill>
        <p:spPr>
          <a:xfrm>
            <a:off x="5802489" y="790458"/>
            <a:ext cx="5058481" cy="2328556"/>
          </a:xfrm>
          <a:prstGeom prst="rect">
            <a:avLst/>
          </a:prstGeom>
        </p:spPr>
      </p:pic>
      <p:sp>
        <p:nvSpPr>
          <p:cNvPr id="4" name="Marcador de texto 3"/>
          <p:cNvSpPr>
            <a:spLocks noGrp="1"/>
          </p:cNvSpPr>
          <p:nvPr>
            <p:ph type="body" sz="half" idx="2"/>
          </p:nvPr>
        </p:nvSpPr>
        <p:spPr>
          <a:xfrm>
            <a:off x="1293811" y="3341511"/>
            <a:ext cx="3718455" cy="2127958"/>
          </a:xfrm>
        </p:spPr>
        <p:txBody>
          <a:bodyPr/>
          <a:lstStyle/>
          <a:p>
            <a:r>
              <a:rPr lang="es-ES" dirty="0" smtClean="0"/>
              <a:t>Representa </a:t>
            </a:r>
            <a:r>
              <a:rPr lang="es-ES" dirty="0"/>
              <a:t>la arista que une dos NodoServidor en la red.</a:t>
            </a:r>
          </a:p>
        </p:txBody>
      </p:sp>
      <p:pic>
        <p:nvPicPr>
          <p:cNvPr id="6" name="Imagen 5"/>
          <p:cNvPicPr>
            <a:picLocks noChangeAspect="1"/>
          </p:cNvPicPr>
          <p:nvPr/>
        </p:nvPicPr>
        <p:blipFill>
          <a:blip r:embed="rId3"/>
          <a:stretch>
            <a:fillRect/>
          </a:stretch>
        </p:blipFill>
        <p:spPr>
          <a:xfrm>
            <a:off x="5802489" y="3341511"/>
            <a:ext cx="5058481" cy="2800741"/>
          </a:xfrm>
          <a:prstGeom prst="rect">
            <a:avLst/>
          </a:prstGeom>
        </p:spPr>
      </p:pic>
    </p:spTree>
    <p:extLst>
      <p:ext uri="{BB962C8B-B14F-4D97-AF65-F5344CB8AC3E}">
        <p14:creationId xmlns:p14="http://schemas.microsoft.com/office/powerpoint/2010/main" val="25032279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0" y="1038578"/>
            <a:ext cx="3718455" cy="1371600"/>
          </a:xfrm>
        </p:spPr>
        <p:txBody>
          <a:bodyPr>
            <a:normAutofit/>
          </a:bodyPr>
          <a:lstStyle/>
          <a:p>
            <a:pPr>
              <a:lnSpc>
                <a:spcPct val="150000"/>
              </a:lnSpc>
            </a:pPr>
            <a:r>
              <a:rPr lang="es-ES" sz="2800" b="1" dirty="0"/>
              <a:t>Búsqueda de Ruta</a:t>
            </a:r>
          </a:p>
        </p:txBody>
      </p:sp>
      <p:pic>
        <p:nvPicPr>
          <p:cNvPr id="5" name="Marcador de contenido 4"/>
          <p:cNvPicPr>
            <a:picLocks noGrp="1" noChangeAspect="1"/>
          </p:cNvPicPr>
          <p:nvPr>
            <p:ph idx="1"/>
          </p:nvPr>
        </p:nvPicPr>
        <p:blipFill>
          <a:blip r:embed="rId2"/>
          <a:stretch>
            <a:fillRect/>
          </a:stretch>
        </p:blipFill>
        <p:spPr>
          <a:xfrm>
            <a:off x="5309654" y="824090"/>
            <a:ext cx="5960623" cy="5125154"/>
          </a:xfrm>
          <a:prstGeom prst="rect">
            <a:avLst/>
          </a:prstGeom>
        </p:spPr>
      </p:pic>
      <p:sp>
        <p:nvSpPr>
          <p:cNvPr id="4" name="Marcador de texto 3"/>
          <p:cNvSpPr>
            <a:spLocks noGrp="1"/>
          </p:cNvSpPr>
          <p:nvPr>
            <p:ph type="body" sz="half" idx="2"/>
          </p:nvPr>
        </p:nvSpPr>
        <p:spPr/>
        <p:txBody>
          <a:bodyPr>
            <a:normAutofit fontScale="85000" lnSpcReduction="10000"/>
          </a:bodyPr>
          <a:lstStyle/>
          <a:p>
            <a:pPr>
              <a:lnSpc>
                <a:spcPct val="150000"/>
              </a:lnSpc>
            </a:pPr>
            <a:r>
              <a:rPr lang="es-ES" dirty="0"/>
              <a:t>Utiliza Búsqueda en Amplitud (BFS) (encontrar_ruta_bfs) para determinar la ruta más corta (o simplemente una ruta) entre el servidor de origen y el de destino</a:t>
            </a:r>
            <a:r>
              <a:rPr lang="es-ES" dirty="0" smtClean="0"/>
              <a:t>.</a:t>
            </a:r>
            <a:r>
              <a:rPr lang="es-ES" dirty="0"/>
              <a:t> Se eligió por su capacidad de encontrar el camino más corto (en términos del menor número de saltos) entre servidores, simulando un enrutamiento de red eficiente.</a:t>
            </a:r>
            <a:endParaRPr lang="es-ES" dirty="0"/>
          </a:p>
          <a:p>
            <a:endParaRPr lang="es-ES" dirty="0"/>
          </a:p>
        </p:txBody>
      </p:sp>
    </p:spTree>
    <p:extLst>
      <p:ext uri="{BB962C8B-B14F-4D97-AF65-F5344CB8AC3E}">
        <p14:creationId xmlns:p14="http://schemas.microsoft.com/office/powerpoint/2010/main" val="7179291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3810" y="1095023"/>
            <a:ext cx="3718455" cy="1371600"/>
          </a:xfrm>
        </p:spPr>
        <p:txBody>
          <a:bodyPr>
            <a:normAutofit/>
          </a:bodyPr>
          <a:lstStyle/>
          <a:p>
            <a:pPr>
              <a:lnSpc>
                <a:spcPct val="150000"/>
              </a:lnSpc>
            </a:pPr>
            <a:r>
              <a:rPr lang="es-ES" sz="2800" b="1" dirty="0"/>
              <a:t>Transferencia</a:t>
            </a:r>
          </a:p>
        </p:txBody>
      </p:sp>
      <p:pic>
        <p:nvPicPr>
          <p:cNvPr id="5" name="Marcador de contenido 4"/>
          <p:cNvPicPr>
            <a:picLocks noGrp="1" noChangeAspect="1"/>
          </p:cNvPicPr>
          <p:nvPr>
            <p:ph idx="1"/>
          </p:nvPr>
        </p:nvPicPr>
        <p:blipFill>
          <a:blip r:embed="rId2"/>
          <a:stretch>
            <a:fillRect/>
          </a:stretch>
        </p:blipFill>
        <p:spPr>
          <a:xfrm>
            <a:off x="5155901" y="869244"/>
            <a:ext cx="6147357" cy="5023555"/>
          </a:xfrm>
          <a:prstGeom prst="rect">
            <a:avLst/>
          </a:prstGeom>
        </p:spPr>
      </p:pic>
      <p:sp>
        <p:nvSpPr>
          <p:cNvPr id="4" name="Marcador de texto 3"/>
          <p:cNvSpPr>
            <a:spLocks noGrp="1"/>
          </p:cNvSpPr>
          <p:nvPr>
            <p:ph type="body" sz="half" idx="2"/>
          </p:nvPr>
        </p:nvSpPr>
        <p:spPr/>
        <p:txBody>
          <a:bodyPr/>
          <a:lstStyle/>
          <a:p>
            <a:pPr>
              <a:lnSpc>
                <a:spcPct val="200000"/>
              </a:lnSpc>
            </a:pPr>
            <a:r>
              <a:rPr lang="es-ES" dirty="0"/>
              <a:t>El método enviar_mensaje_por_red utiliza la ruta encontrada por BFS para simular el enrutamiento del mensaje hasta el servidor de destino.</a:t>
            </a:r>
          </a:p>
          <a:p>
            <a:endParaRPr lang="es-ES" dirty="0"/>
          </a:p>
        </p:txBody>
      </p:sp>
    </p:spTree>
    <p:extLst>
      <p:ext uri="{BB962C8B-B14F-4D97-AF65-F5344CB8AC3E}">
        <p14:creationId xmlns:p14="http://schemas.microsoft.com/office/powerpoint/2010/main" val="6507714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nSpc>
                <a:spcPct val="150000"/>
              </a:lnSpc>
            </a:pPr>
            <a:r>
              <a:rPr lang="es-ES" sz="2800" b="1" dirty="0" smtClean="0"/>
              <a:t>Iniciar Sesión(Desde Red)</a:t>
            </a:r>
            <a:endParaRPr lang="es-ES" sz="2800" b="1" dirty="0"/>
          </a:p>
        </p:txBody>
      </p:sp>
      <p:pic>
        <p:nvPicPr>
          <p:cNvPr id="5" name="Marcador de contenido 4"/>
          <p:cNvPicPr>
            <a:picLocks noGrp="1" noChangeAspect="1"/>
          </p:cNvPicPr>
          <p:nvPr>
            <p:ph idx="1"/>
          </p:nvPr>
        </p:nvPicPr>
        <p:blipFill>
          <a:blip r:embed="rId2"/>
          <a:stretch>
            <a:fillRect/>
          </a:stretch>
        </p:blipFill>
        <p:spPr>
          <a:xfrm>
            <a:off x="5215468" y="1128889"/>
            <a:ext cx="5673196" cy="4583289"/>
          </a:xfrm>
          <a:prstGeom prst="rect">
            <a:avLst/>
          </a:prstGeom>
        </p:spPr>
      </p:pic>
      <p:sp>
        <p:nvSpPr>
          <p:cNvPr id="4" name="Marcador de texto 3"/>
          <p:cNvSpPr>
            <a:spLocks noGrp="1"/>
          </p:cNvSpPr>
          <p:nvPr>
            <p:ph type="body" sz="half" idx="2"/>
          </p:nvPr>
        </p:nvSpPr>
        <p:spPr/>
        <p:txBody>
          <a:bodyPr/>
          <a:lstStyle/>
          <a:p>
            <a:pPr>
              <a:lnSpc>
                <a:spcPct val="200000"/>
              </a:lnSpc>
            </a:pPr>
            <a:r>
              <a:rPr lang="es-ES" dirty="0" smtClean="0"/>
              <a:t>Método </a:t>
            </a:r>
            <a:r>
              <a:rPr lang="es-ES" dirty="0"/>
              <a:t>para ingresar </a:t>
            </a:r>
            <a:r>
              <a:rPr lang="es-ES" dirty="0" smtClean="0"/>
              <a:t>sesión </a:t>
            </a:r>
            <a:r>
              <a:rPr lang="es-ES" dirty="0"/>
              <a:t>desde la </a:t>
            </a:r>
            <a:r>
              <a:rPr lang="es-ES" dirty="0" smtClean="0"/>
              <a:t>red.</a:t>
            </a:r>
            <a:endParaRPr lang="es-ES" dirty="0"/>
          </a:p>
          <a:p>
            <a:endParaRPr lang="es-ES" dirty="0"/>
          </a:p>
        </p:txBody>
      </p:sp>
    </p:spTree>
    <p:extLst>
      <p:ext uri="{BB962C8B-B14F-4D97-AF65-F5344CB8AC3E}">
        <p14:creationId xmlns:p14="http://schemas.microsoft.com/office/powerpoint/2010/main" val="37069832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28523" y="1399823"/>
            <a:ext cx="3718455" cy="1371600"/>
          </a:xfrm>
        </p:spPr>
        <p:txBody>
          <a:bodyPr>
            <a:normAutofit/>
          </a:bodyPr>
          <a:lstStyle/>
          <a:p>
            <a:pPr>
              <a:lnSpc>
                <a:spcPct val="150000"/>
              </a:lnSpc>
            </a:pPr>
            <a:r>
              <a:rPr lang="es-ES" sz="2800" b="1" dirty="0" smtClean="0"/>
              <a:t>Registrar Usuario(Desde Red)</a:t>
            </a:r>
            <a:endParaRPr lang="es-ES" sz="2800" b="1" dirty="0"/>
          </a:p>
        </p:txBody>
      </p:sp>
      <p:pic>
        <p:nvPicPr>
          <p:cNvPr id="5" name="Marcador de contenido 4"/>
          <p:cNvPicPr>
            <a:picLocks noGrp="1" noChangeAspect="1"/>
          </p:cNvPicPr>
          <p:nvPr>
            <p:ph idx="1"/>
          </p:nvPr>
        </p:nvPicPr>
        <p:blipFill>
          <a:blip r:embed="rId2"/>
          <a:stretch>
            <a:fillRect/>
          </a:stretch>
        </p:blipFill>
        <p:spPr>
          <a:xfrm>
            <a:off x="5125156" y="1128889"/>
            <a:ext cx="5763507" cy="4628443"/>
          </a:xfrm>
          <a:prstGeom prst="rect">
            <a:avLst/>
          </a:prstGeom>
        </p:spPr>
      </p:pic>
      <p:sp>
        <p:nvSpPr>
          <p:cNvPr id="4" name="Marcador de texto 3"/>
          <p:cNvSpPr>
            <a:spLocks noGrp="1"/>
          </p:cNvSpPr>
          <p:nvPr>
            <p:ph type="body" sz="half" idx="2"/>
          </p:nvPr>
        </p:nvSpPr>
        <p:spPr>
          <a:xfrm>
            <a:off x="1293812" y="3031065"/>
            <a:ext cx="3187878" cy="2438404"/>
          </a:xfrm>
        </p:spPr>
        <p:txBody>
          <a:bodyPr/>
          <a:lstStyle/>
          <a:p>
            <a:pPr>
              <a:lnSpc>
                <a:spcPct val="200000"/>
              </a:lnSpc>
            </a:pPr>
            <a:r>
              <a:rPr lang="es-ES" dirty="0" smtClean="0"/>
              <a:t>Método </a:t>
            </a:r>
            <a:r>
              <a:rPr lang="es-ES" dirty="0"/>
              <a:t>para registrar usuarios por la </a:t>
            </a:r>
            <a:r>
              <a:rPr lang="es-ES" dirty="0" smtClean="0"/>
              <a:t>red. </a:t>
            </a:r>
            <a:endParaRPr lang="es-ES" dirty="0"/>
          </a:p>
          <a:p>
            <a:endParaRPr lang="es-ES" dirty="0"/>
          </a:p>
        </p:txBody>
      </p:sp>
    </p:spTree>
    <p:extLst>
      <p:ext uri="{BB962C8B-B14F-4D97-AF65-F5344CB8AC3E}">
        <p14:creationId xmlns:p14="http://schemas.microsoft.com/office/powerpoint/2010/main" val="33328961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Integración de Clases (Composición)</a:t>
            </a:r>
            <a:endParaRPr lang="es-ES" b="1" dirty="0"/>
          </a:p>
        </p:txBody>
      </p:sp>
      <p:sp>
        <p:nvSpPr>
          <p:cNvPr id="3" name="Marcador de contenido 2"/>
          <p:cNvSpPr>
            <a:spLocks noGrp="1"/>
          </p:cNvSpPr>
          <p:nvPr>
            <p:ph idx="1"/>
          </p:nvPr>
        </p:nvSpPr>
        <p:spPr/>
        <p:txBody>
          <a:bodyPr>
            <a:normAutofit fontScale="77500" lnSpcReduction="20000"/>
          </a:bodyPr>
          <a:lstStyle/>
          <a:p>
            <a:pPr marL="0" indent="0">
              <a:buNone/>
            </a:pPr>
            <a:r>
              <a:rPr lang="es-ES" dirty="0"/>
              <a:t>La unidad del sistema se logra mediante el principio de Composición de objetos, donde las clases se construyen a partir de instancias de otras, formando una jerarquía lógica de pertenencia:</a:t>
            </a:r>
          </a:p>
          <a:p>
            <a:r>
              <a:rPr lang="es-ES" dirty="0"/>
              <a:t>La Red contiene a los Servidores: La clase RedServidores contiene instancias de NodoServidor, y cada nodo contiene una instancia de Servidor.</a:t>
            </a:r>
          </a:p>
          <a:p>
            <a:r>
              <a:rPr lang="es-ES" dirty="0"/>
              <a:t>El Servidor contiene a los Usuarios: La clase Servidor contiene una lista de objetos Usuario.</a:t>
            </a:r>
          </a:p>
          <a:p>
            <a:r>
              <a:rPr lang="es-ES" dirty="0"/>
              <a:t>El Usuario contiene las Estructuras Internas: La clase Usuario contiene instancias de Carpeta </a:t>
            </a:r>
            <a:r>
              <a:rPr lang="es-ES" dirty="0" smtClean="0"/>
              <a:t>(buzón, </a:t>
            </a:r>
            <a:r>
              <a:rPr lang="es-ES" dirty="0"/>
              <a:t>enviados, </a:t>
            </a:r>
            <a:r>
              <a:rPr lang="es-ES" dirty="0" smtClean="0"/>
              <a:t>raíz) </a:t>
            </a:r>
            <a:r>
              <a:rPr lang="es-ES" dirty="0"/>
              <a:t>y una instancia de ColaDePrioridades.</a:t>
            </a:r>
          </a:p>
          <a:p>
            <a:r>
              <a:rPr lang="es-ES" dirty="0"/>
              <a:t>Las Carpetas contienen los Mensajes: La clase Carpeta contiene una lista de objetos Mensaje.</a:t>
            </a:r>
          </a:p>
          <a:p>
            <a:pPr marL="0" indent="0">
              <a:buNone/>
            </a:pPr>
            <a:r>
              <a:rPr lang="es-ES" dirty="0"/>
              <a:t>Esta cadena de composición asegura que la lógica del sistema (como buscar un usuario en un servidor específico de la red para entregar un mensaje) se delegue y se ejecute correctamente de una clase a otra.</a:t>
            </a:r>
          </a:p>
        </p:txBody>
      </p:sp>
    </p:spTree>
    <p:extLst>
      <p:ext uri="{BB962C8B-B14F-4D97-AF65-F5344CB8AC3E}">
        <p14:creationId xmlns:p14="http://schemas.microsoft.com/office/powerpoint/2010/main" val="290858505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423</TotalTime>
  <Words>808</Words>
  <Application>Microsoft Office PowerPoint</Application>
  <PresentationFormat>Panorámica</PresentationFormat>
  <Paragraphs>53</Paragraphs>
  <Slides>23</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23</vt:i4>
      </vt:variant>
    </vt:vector>
  </HeadingPairs>
  <TitlesOfParts>
    <vt:vector size="26" baseType="lpstr">
      <vt:lpstr>Arial</vt:lpstr>
      <vt:lpstr>Garamond</vt:lpstr>
      <vt:lpstr>Orgánico</vt:lpstr>
      <vt:lpstr>Cliente de Correo Electrónico</vt:lpstr>
      <vt:lpstr>Introducción</vt:lpstr>
      <vt:lpstr>Estructura y Función de las Clases</vt:lpstr>
      <vt:lpstr>Capa de Datos y Estructuras (clase Mensaje)</vt:lpstr>
      <vt:lpstr>Capa de Datos y Estructuras (Clase Nodo/ColaDePrioridades)</vt:lpstr>
      <vt:lpstr>Diccionario (self.reglas_filtro en Usuario)</vt:lpstr>
      <vt:lpstr>Capa Lógica clase Usuario</vt:lpstr>
      <vt:lpstr>Clase Usuario(Filtros 1)</vt:lpstr>
      <vt:lpstr>Clase Usuario(Filtros 2)</vt:lpstr>
      <vt:lpstr>Presentación de PowerPoint</vt:lpstr>
      <vt:lpstr>Árbol General (Clase Carpeta)</vt:lpstr>
      <vt:lpstr>Clase Carpeta</vt:lpstr>
      <vt:lpstr>Clase Carpeta(Sección Mensajes)</vt:lpstr>
      <vt:lpstr>Red de Grafo</vt:lpstr>
      <vt:lpstr>Capa de Red y Conectividad</vt:lpstr>
      <vt:lpstr>Clase RedServidores</vt:lpstr>
      <vt:lpstr>Nodo Servidor </vt:lpstr>
      <vt:lpstr>Clase Conexión</vt:lpstr>
      <vt:lpstr>Búsqueda de Ruta</vt:lpstr>
      <vt:lpstr>Transferencia</vt:lpstr>
      <vt:lpstr>Iniciar Sesión(Desde Red)</vt:lpstr>
      <vt:lpstr>Registrar Usuario(Desde Red)</vt:lpstr>
      <vt:lpstr>Integración de Clases (Composición)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Cliente de Correo Electrónico</dc:title>
  <dc:creator>Ruben</dc:creator>
  <cp:lastModifiedBy>Ruben</cp:lastModifiedBy>
  <cp:revision>21</cp:revision>
  <dcterms:created xsi:type="dcterms:W3CDTF">2025-11-21T18:35:28Z</dcterms:created>
  <dcterms:modified xsi:type="dcterms:W3CDTF">2025-11-22T01:38:47Z</dcterms:modified>
</cp:coreProperties>
</file>