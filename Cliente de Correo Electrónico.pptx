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theme/_rels/theme1.xml.rels" ContentType="application/vnd.openxmlformats-package.relationships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6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roup 6"/>
          <p:cNvGrpSpPr/>
          <p:nvPr/>
        </p:nvGrpSpPr>
        <p:grpSpPr>
          <a:xfrm>
            <a:off x="-16920" y="0"/>
            <a:ext cx="12230640" cy="6855840"/>
            <a:chOff x="-16920" y="0"/>
            <a:chExt cx="12230640" cy="6855840"/>
          </a:xfrm>
        </p:grpSpPr>
        <p:pic>
          <p:nvPicPr>
            <p:cNvPr id="6" name="Picture 15" descr="HD-PanelTitleR1.png"/>
            <p:cNvPicPr/>
            <p:nvPr/>
          </p:nvPicPr>
          <p:blipFill>
            <a:blip r:embed="rId6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" name="Rectangle 25"/>
            <p:cNvSpPr/>
            <p:nvPr/>
          </p:nvSpPr>
          <p:spPr>
            <a:xfrm>
              <a:off x="2328480" y="1540800"/>
              <a:ext cx="7543440" cy="383508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" name="Picture 16" descr="HDRibbonTitle-UniformTrim.png"/>
            <p:cNvPicPr/>
            <p:nvPr/>
          </p:nvPicPr>
          <p:blipFill>
            <a:blip r:embed="rId7"/>
            <a:stretch/>
          </p:blipFill>
          <p:spPr>
            <a:xfrm>
              <a:off x="-16920" y="3147480"/>
              <a:ext cx="2477520" cy="612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" name="Picture 19" descr="HDRibbonTitle-UniformTrim.png"/>
            <p:cNvPicPr/>
            <p:nvPr/>
          </p:nvPicPr>
          <p:blipFill>
            <a:blip r:embed="rId8"/>
            <a:stretch/>
          </p:blipFill>
          <p:spPr>
            <a:xfrm>
              <a:off x="9736200" y="3147480"/>
              <a:ext cx="2477520" cy="6123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5160" cy="1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5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7983360" y="5037840"/>
            <a:ext cx="89712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 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2692440" y="5037840"/>
            <a:ext cx="52142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8956800" y="5037840"/>
            <a:ext cx="55080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5C6049-ED1E-4AEB-A1C8-B1CFA04EE8A0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1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4" name="Straight Connector 14"/>
          <p:cNvCxnSpPr/>
          <p:nvPr/>
        </p:nvCxnSpPr>
        <p:spPr>
          <a:xfrm>
            <a:off x="2692080" y="3521880"/>
            <a:ext cx="681624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Pulse para editar el formato de texto del esquema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 del esquema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 del esquema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 del esquema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 del esquema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Sexto nivel del esquema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Séptimo nivel del esquema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panorámica con descrip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7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295280" y="4815360"/>
            <a:ext cx="960948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041480" y="1041480"/>
            <a:ext cx="10105560" cy="333540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miter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Haga clic en el icono para agregar una imagen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295280" y="5382000"/>
            <a:ext cx="9609480" cy="4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4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5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6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A7A991-3B39-4B91-9C54-56A76BFF14F0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descrip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28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9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0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303920" y="982080"/>
            <a:ext cx="9592200" cy="295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1303920" y="4343400"/>
            <a:ext cx="9592200" cy="15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7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8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9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FFB7CE-8153-4C3E-93A4-AF9A06E70F79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7" name="Straight Connector 14"/>
          <p:cNvCxnSpPr/>
          <p:nvPr/>
        </p:nvCxnSpPr>
        <p:spPr>
          <a:xfrm>
            <a:off x="1396080" y="414000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con descrip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3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0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446120" y="982080"/>
            <a:ext cx="9295920" cy="237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674720" y="3352680"/>
            <a:ext cx="8838720" cy="58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1295280" y="4343400"/>
            <a:ext cx="9609480" cy="15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10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11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12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52BF6E-C16D-4687-9347-019D66B65816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Box 13"/>
          <p:cNvSpPr/>
          <p:nvPr/>
        </p:nvSpPr>
        <p:spPr>
          <a:xfrm>
            <a:off x="861840" y="8798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b="0" lang="es-A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14"/>
          <p:cNvSpPr/>
          <p:nvPr/>
        </p:nvSpPr>
        <p:spPr>
          <a:xfrm>
            <a:off x="10600200" y="28278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b="0" lang="es-A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" name="Straight Connector 18"/>
          <p:cNvCxnSpPr/>
          <p:nvPr/>
        </p:nvCxnSpPr>
        <p:spPr>
          <a:xfrm>
            <a:off x="1396080" y="414000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jeta de nomb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53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4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5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6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95280" y="3308760"/>
            <a:ext cx="960948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s-ES" sz="32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95280" y="4777560"/>
            <a:ext cx="960948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13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14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15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B3A1AF-5D3D-438E-A8AD-154F1A6EE204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r la tarjeta de nombr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63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4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5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46120" y="982080"/>
            <a:ext cx="9295920" cy="22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32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295280" y="3639240"/>
            <a:ext cx="9609480" cy="88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295280" y="4529520"/>
            <a:ext cx="9609480" cy="134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16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17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18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8709CB-FAEC-422C-8EBE-20103253A233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Box 11"/>
          <p:cNvSpPr/>
          <p:nvPr/>
        </p:nvSpPr>
        <p:spPr>
          <a:xfrm>
            <a:off x="861840" y="8798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“</a:t>
            </a:r>
            <a:endParaRPr b="0" lang="es-A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10600200" y="2599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”</a:t>
            </a:r>
            <a:endParaRPr b="0" lang="es-A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" name="Straight Connector 25"/>
          <p:cNvCxnSpPr/>
          <p:nvPr/>
        </p:nvCxnSpPr>
        <p:spPr>
          <a:xfrm>
            <a:off x="1396080" y="342900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dadero o fals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77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8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9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0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9480" cy="22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295280" y="3630240"/>
            <a:ext cx="9609480" cy="84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1295280" y="4470480"/>
            <a:ext cx="9609480" cy="140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dt" idx="19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ftr" idx="20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sldNum" idx="21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3E9B30-883E-439B-9BDD-739EE4AF53CB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7" name="Straight Connector 14"/>
          <p:cNvCxnSpPr/>
          <p:nvPr/>
        </p:nvCxnSpPr>
        <p:spPr>
          <a:xfrm>
            <a:off x="1396080" y="342900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8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0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22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23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24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859B9D-6274-42F1-A5FA-3121AD65DB12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8" name="Straight Connector 13"/>
          <p:cNvCxnSpPr/>
          <p:nvPr/>
        </p:nvCxnSpPr>
        <p:spPr>
          <a:xfrm>
            <a:off x="1396080" y="242136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00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1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2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3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999280" y="982080"/>
            <a:ext cx="1890360" cy="489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1295280" y="982080"/>
            <a:ext cx="7432560" cy="489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25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26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27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CE9244-1F60-4480-A71F-6E8FF2B54F3A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09" name="Straight Connector 13"/>
          <p:cNvCxnSpPr/>
          <p:nvPr/>
        </p:nvCxnSpPr>
        <p:spPr>
          <a:xfrm>
            <a:off x="8863560" y="990360"/>
            <a:ext cx="360" cy="487728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11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2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3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4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15" name="Straight Connector 6"/>
          <p:cNvCxnSpPr/>
          <p:nvPr/>
        </p:nvCxnSpPr>
        <p:spPr>
          <a:xfrm>
            <a:off x="1396080" y="242136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28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ftr" idx="29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sldNum" idx="30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1BF102-4D45-4D87-B338-FCE770324598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22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3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4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5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2014920" y="1752480"/>
            <a:ext cx="8158320" cy="182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2014920" y="3845880"/>
            <a:ext cx="8158320" cy="95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31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32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 idx="33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A8517F-BD2F-43EA-8031-22526651E1C8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31" name="Straight Connector 15"/>
          <p:cNvCxnSpPr/>
          <p:nvPr/>
        </p:nvCxnSpPr>
        <p:spPr>
          <a:xfrm>
            <a:off x="2012400" y="3710520"/>
            <a:ext cx="81637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33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4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5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6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cxnSp>
        <p:nvCxnSpPr>
          <p:cNvPr id="137" name="Straight Connector 7"/>
          <p:cNvCxnSpPr/>
          <p:nvPr/>
        </p:nvCxnSpPr>
        <p:spPr>
          <a:xfrm>
            <a:off x="1396080" y="242136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1298520" y="2560320"/>
            <a:ext cx="4717800" cy="33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181200" y="2560320"/>
            <a:ext cx="4717800" cy="33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34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35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sldNum" idx="36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007521-3D20-491A-99B3-0FFE9FC978AB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45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6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7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8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295280" y="2658600"/>
            <a:ext cx="47178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800" strike="noStrike" u="none">
                <a:solidFill>
                  <a:schemeClr val="accent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1295280" y="3243240"/>
            <a:ext cx="4717800" cy="263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6180840" y="2658600"/>
            <a:ext cx="47178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672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800" strike="noStrike" u="none">
                <a:solidFill>
                  <a:schemeClr val="accent1"/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body"/>
          </p:nvPr>
        </p:nvSpPr>
        <p:spPr>
          <a:xfrm>
            <a:off x="6180840" y="3243240"/>
            <a:ext cx="4717800" cy="263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dt" idx="37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 type="ftr" idx="38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8"/>
          <p:cNvSpPr>
            <a:spLocks noGrp="1"/>
          </p:cNvSpPr>
          <p:nvPr>
            <p:ph type="sldNum" idx="39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511D5C-A2B4-45BE-916D-29274D37DC54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57" name="Straight Connector 17"/>
          <p:cNvCxnSpPr/>
          <p:nvPr/>
        </p:nvCxnSpPr>
        <p:spPr>
          <a:xfrm>
            <a:off x="1396080" y="242136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5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0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dt" idx="40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ftr" idx="41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42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2CB209-5732-482B-8751-D818083B3E01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67" name="Straight Connector 13"/>
          <p:cNvCxnSpPr/>
          <p:nvPr/>
        </p:nvCxnSpPr>
        <p:spPr>
          <a:xfrm>
            <a:off x="1396080" y="2421360"/>
            <a:ext cx="940752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6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0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3" name="PlaceHolder 1"/>
          <p:cNvSpPr>
            <a:spLocks noGrp="1"/>
          </p:cNvSpPr>
          <p:nvPr>
            <p:ph type="dt" idx="43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ftr" idx="44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5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E274B7-0620-4652-8277-2BAE43618497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Pulse para editar el formato del texto de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Pulse para editar el formato de texto del esquema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 del esquema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 del esquema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 del esquema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 del esquema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Sexto nivel del esquema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Séptimo nivel del esquema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79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0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1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2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418720" y="982080"/>
            <a:ext cx="5469120" cy="489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20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Segundo nivel</a:t>
            </a:r>
            <a:endParaRPr b="0" lang="en-US" sz="20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2" marL="1200240" indent="-285840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Tercer nivel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3" marL="1542960" indent="-171360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Cuarto nivel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lvl="4" marL="2000160" indent="-171360" defTabSz="4572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</a:pPr>
            <a:r>
              <a:rPr b="0" lang="es-ES" sz="1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Quinto nivel</a:t>
            </a:r>
            <a:endParaRPr b="0" lang="en-US" sz="1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dt" idx="46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ftr" idx="47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sldNum" idx="48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624930-3CC2-4976-B4D3-8276F158D12E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9" name="Straight Connector 15"/>
          <p:cNvCxnSpPr/>
          <p:nvPr/>
        </p:nvCxnSpPr>
        <p:spPr>
          <a:xfrm>
            <a:off x="1396080" y="2912400"/>
            <a:ext cx="3514680" cy="36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-15840" y="0"/>
            <a:ext cx="12229560" cy="6855840"/>
            <a:chOff x="-15840" y="0"/>
            <a:chExt cx="12229560" cy="6855840"/>
          </a:xfrm>
        </p:grpSpPr>
        <p:pic>
          <p:nvPicPr>
            <p:cNvPr id="191" name="Picture 7" descr="HD-PanelContent.png"/>
            <p:cNvPicPr/>
            <p:nvPr/>
          </p:nvPicPr>
          <p:blipFill>
            <a:blip r:embed="rId3"/>
            <a:stretch/>
          </p:blipFill>
          <p:spPr>
            <a:xfrm>
              <a:off x="0" y="0"/>
              <a:ext cx="12188520" cy="6855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2" name="Rectangle 8"/>
            <p:cNvSpPr/>
            <p:nvPr/>
          </p:nvSpPr>
          <p:spPr>
            <a:xfrm>
              <a:off x="608040" y="609480"/>
              <a:ext cx="10972440" cy="5638320"/>
            </a:xfrm>
            <a:prstGeom prst="rect">
              <a:avLst/>
            </a:prstGeom>
            <a:noFill/>
            <a:ln w="15875">
              <a:solidFill>
                <a:srgbClr val="83992a"/>
              </a:solidFill>
              <a:miter/>
            </a:ln>
            <a:effectLst>
              <a:innerShdw blurRad="25400" dir="13500000" dist="12700">
                <a:srgbClr val="000000">
                  <a:alpha val="45000"/>
                </a:srgbClr>
              </a:inn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3" name="Picture 9" descr="HDRibbonContent-UniformTrim.png"/>
            <p:cNvPicPr/>
            <p:nvPr/>
          </p:nvPicPr>
          <p:blipFill>
            <a:blip r:embed="rId4"/>
            <a:stretch/>
          </p:blipFill>
          <p:spPr>
            <a:xfrm>
              <a:off x="-15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4" name="Picture 10" descr="HDRibbonContent-UniformTrim.png"/>
            <p:cNvPicPr/>
            <p:nvPr/>
          </p:nvPicPr>
          <p:blipFill>
            <a:blip r:embed="rId5"/>
            <a:stretch/>
          </p:blipFill>
          <p:spPr>
            <a:xfrm>
              <a:off x="11436840" y="3153960"/>
              <a:ext cx="776880" cy="6062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295280" y="1883880"/>
            <a:ext cx="624132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Haga clic para modificar el estilo de título del patrón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8094960" y="1041480"/>
            <a:ext cx="3062880" cy="4774680"/>
          </a:xfrm>
          <a:prstGeom prst="rect">
            <a:avLst/>
          </a:prstGeom>
          <a:noFill/>
          <a:ln w="57240">
            <a:solidFill>
              <a:schemeClr val="dk1">
                <a:lumMod val="50000"/>
                <a:lumOff val="50000"/>
              </a:schemeClr>
            </a:solidFill>
            <a:miter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Haga clic en el icono para agregar una imagen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1295280" y="3255480"/>
            <a:ext cx="624132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Editar el estilo de texto del patrón</a:t>
            </a:r>
            <a:endParaRPr b="0" lang="en-US" sz="18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dt" idx="49"/>
          </p:nvPr>
        </p:nvSpPr>
        <p:spPr>
          <a:xfrm>
            <a:off x="8677440" y="5969160"/>
            <a:ext cx="159984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&lt;fecha/hora&gt;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ftr" idx="50"/>
          </p:nvPr>
        </p:nvSpPr>
        <p:spPr>
          <a:xfrm>
            <a:off x="1295280" y="5969160"/>
            <a:ext cx="730548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sldNum" idx="51"/>
          </p:nvPr>
        </p:nvSpPr>
        <p:spPr>
          <a:xfrm>
            <a:off x="10353960" y="5969160"/>
            <a:ext cx="542160" cy="27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527016-AC10-4F29-AC65-46FCDF3FC67A}" type="slidenum">
              <a:rPr b="0" lang="en-US" sz="10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&lt;número&gt;</a:t>
            </a:fld>
            <a:endParaRPr b="0" lang="es-A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5160" cy="1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5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Cliente de Correo Electrónico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ubTitle"/>
          </p:nvPr>
        </p:nvSpPr>
        <p:spPr>
          <a:xfrm>
            <a:off x="2692440" y="3657600"/>
            <a:ext cx="68151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1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Presentación de defensa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Integración de Clases (Composición)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La unidad del sistema se logra mediante el principio de Composición de objetos, donde las clases se construyen a partir de instancias de otras, formando una jerarquía lógica de pertenencia: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La Red contiene a los Servidores: La clase RedServidores contiene instancias de NodoServidor, y cada nodo contiene una instancia de Servidor.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El Servidor contiene a los Usuarios: La clase Servidor contiene una lista de objetos Usuario.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El Usuario contiene las Estructuras Internas: La clase Usuario contiene instancias de Carpeta (buzón, enviados, raíz) y una instancia de ColaDePrioridades.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83992a"/>
              </a:buClr>
              <a:buSzPct val="115000"/>
              <a:buFont typeface="Arial"/>
              <a:buChar char="•"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Las Carpetas contienen los Mensajes: La clase Carpeta contiene una lista de objetos Mensaje.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Esta cadena de composición asegura que la lógica del sistema (como buscar un usuario en un servidor específico de la red para entregar un mensaje) se delegue y se ejecute correctamente de una clase a otra.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Estructura y Función de las Clases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1295280" y="2557080"/>
            <a:ext cx="9600840" cy="331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50000"/>
              </a:lnSpc>
              <a:spcBef>
                <a:spcPts val="479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El sistema se compone de clases organizadas en tres capas funcionales: Data/Estructura, Lógica de Usuario/Servidor, y Lógica de Red.</a:t>
            </a:r>
            <a:endParaRPr b="0" lang="en-US" sz="24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295280" y="982080"/>
            <a:ext cx="960084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4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Capa de Datos y Estructuras (clase Mensaje)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08" name="Marcador de contenido 3" descr=""/>
          <p:cNvPicPr/>
          <p:nvPr/>
        </p:nvPicPr>
        <p:blipFill>
          <a:blip r:embed="rId1"/>
          <a:stretch/>
        </p:blipFill>
        <p:spPr>
          <a:xfrm>
            <a:off x="1453320" y="3939840"/>
            <a:ext cx="9600840" cy="184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Marcador de texto 3"/>
          <p:cNvSpPr/>
          <p:nvPr/>
        </p:nvSpPr>
        <p:spPr>
          <a:xfrm>
            <a:off x="1038600" y="2528640"/>
            <a:ext cx="10015560" cy="11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70000" lnSpcReduction="19999"/>
          </a:bodyPr>
          <a:p>
            <a:pPr defTabSz="457200">
              <a:lnSpc>
                <a:spcPct val="150000"/>
              </a:lnSpc>
              <a:spcBef>
                <a:spcPts val="479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Define la unidad de comunicación con atributos como remitente, receptor, asunto, cuerpo y urgencia. Clase Carpeta: Gestiona los mensajes y otras carpetas, formando una estructura de árbol jerárquica para el usuario. Utiliza Listas para el contenido (self.mensajes) y para la subestructura (self.lista_carpetas).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tabLst>
                <a:tab algn="l" pos="0"/>
              </a:tabLst>
            </a:pP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Capa Lógica clase Usuario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11" name="Marcador de contenido 4" descr=""/>
          <p:cNvPicPr/>
          <p:nvPr/>
        </p:nvPicPr>
        <p:blipFill>
          <a:blip r:embed="rId1"/>
          <a:stretch/>
        </p:blipFill>
        <p:spPr>
          <a:xfrm>
            <a:off x="5012280" y="1862640"/>
            <a:ext cx="6237360" cy="301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Representa la cuenta individual. Es responsable de la organización interna del correo.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Usuario(Filtros 1)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Métodos para agregar las reglas de filtros según los asuntos o remitentes ingresados, y para aplicar dichas reglas al buzón de entrada.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15" name="Imagen 5" descr=""/>
          <p:cNvPicPr/>
          <p:nvPr/>
        </p:nvPicPr>
        <p:blipFill>
          <a:blip r:embed="rId1"/>
          <a:stretch/>
        </p:blipFill>
        <p:spPr>
          <a:xfrm>
            <a:off x="5780880" y="666360"/>
            <a:ext cx="5225400" cy="554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293840" y="117396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Usuario(Filtros 2)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17" name="Marcador de contenido 4" descr=""/>
          <p:cNvPicPr/>
          <p:nvPr/>
        </p:nvPicPr>
        <p:blipFill>
          <a:blip r:embed="rId1"/>
          <a:stretch/>
        </p:blipFill>
        <p:spPr>
          <a:xfrm>
            <a:off x="5700960" y="756360"/>
            <a:ext cx="5147280" cy="539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Funciones para la visualización de los filtros hechos por asunto y los hechos por remitentes. Además la función para la eliminación de filtros.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ángulo 1"/>
          <p:cNvSpPr/>
          <p:nvPr/>
        </p:nvSpPr>
        <p:spPr>
          <a:xfrm>
            <a:off x="790200" y="914400"/>
            <a:ext cx="44474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s-ES" sz="2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Capa Lógica clase Servidor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CuadroTexto 3"/>
          <p:cNvSpPr/>
          <p:nvPr/>
        </p:nvSpPr>
        <p:spPr>
          <a:xfrm>
            <a:off x="1569240" y="2302920"/>
            <a:ext cx="2889720" cy="31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Actúa como el host de las cuentas de correo para un dominio específico (por ejemplo, Guernica).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Gestión de Cuentas: registrar_registrar e ingresar_usuario.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s-ES" sz="18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Entrega Local: enviar_msj para depositar el mensaje en el buzón del usuario dentro de ese mismo servidor.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1" name="Conector recto 5"/>
          <p:cNvCxnSpPr/>
          <p:nvPr/>
        </p:nvCxnSpPr>
        <p:spPr>
          <a:xfrm flipV="1">
            <a:off x="970560" y="1670400"/>
            <a:ext cx="3849840" cy="11880"/>
          </a:xfrm>
          <a:prstGeom prst="straightConnector1">
            <a:avLst/>
          </a:prstGeom>
          <a:ln>
            <a:solidFill>
              <a:srgbClr val="83992a"/>
            </a:solidFill>
            <a:round/>
          </a:ln>
        </p:spPr>
      </p:cxnSp>
      <p:pic>
        <p:nvPicPr>
          <p:cNvPr id="222" name="Imagen 6" descr=""/>
          <p:cNvPicPr/>
          <p:nvPr/>
        </p:nvPicPr>
        <p:blipFill>
          <a:blip r:embed="rId1"/>
          <a:stretch/>
        </p:blipFill>
        <p:spPr>
          <a:xfrm>
            <a:off x="5497560" y="914400"/>
            <a:ext cx="5754960" cy="524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5160" cy="1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5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Árbol General (Clase Carpeta)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2692440" y="3657600"/>
            <a:ext cx="68151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ctr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1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Permite una estructura jerárquica natural para organizar carpetas y subcarpetas ilimitadas. Los métodos para mover y buscar mensajes se implementan de forma recursiva, optimizando la exploración de la estructura.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293840" y="112896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20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Carpeta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26" name="Marcador de contenido 4" descr=""/>
          <p:cNvPicPr/>
          <p:nvPr/>
        </p:nvPicPr>
        <p:blipFill>
          <a:blip r:embed="rId1"/>
          <a:stretch/>
        </p:blipFill>
        <p:spPr>
          <a:xfrm>
            <a:off x="5460840" y="745200"/>
            <a:ext cx="5691960" cy="539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5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Permite una estructura jerárquica natural para organizar carpetas y subcarpetas ilimitadas. Los métodos para mover y buscar mensajes se implementan de forma recursiva, optimizando la exploración de la estructura.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Carpeta(Sección Mensajes)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Los métodos para mover y buscar mensajes se implementan de forma recursiva, optimizando la exploración de la estructura.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30" name="Imagen 5" descr=""/>
          <p:cNvPicPr/>
          <p:nvPr/>
        </p:nvPicPr>
        <p:blipFill>
          <a:blip r:embed="rId1"/>
          <a:stretch/>
        </p:blipFill>
        <p:spPr>
          <a:xfrm>
            <a:off x="5667120" y="699840"/>
            <a:ext cx="5090760" cy="550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10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Capa de Datos y Estructuras (Clase Nodo/ColaDePrioridades)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32" name="Marcador de contenido 4" descr=""/>
          <p:cNvPicPr/>
          <p:nvPr/>
        </p:nvPicPr>
        <p:blipFill>
          <a:blip r:embed="rId1"/>
          <a:stretch/>
        </p:blipFill>
        <p:spPr>
          <a:xfrm>
            <a:off x="5621760" y="801360"/>
            <a:ext cx="5553720" cy="521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121040" y="2907000"/>
            <a:ext cx="4063680" cy="122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algn="ctr" defTabSz="457200">
              <a:lnSpc>
                <a:spcPct val="11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Implementa una clase Nodo que proporciona una estructura, y la clase ColaDePrioridades que contiene las funciones para manipular dicha estructura. Todo esto mediante una lista enlazada para gestionar mensajes urgentes.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34" name="Imagen 7" descr=""/>
          <p:cNvPicPr/>
          <p:nvPr/>
        </p:nvPicPr>
        <p:blipFill>
          <a:blip r:embed="rId2"/>
          <a:stretch/>
        </p:blipFill>
        <p:spPr>
          <a:xfrm>
            <a:off x="880200" y="4368960"/>
            <a:ext cx="4545000" cy="164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5160" cy="1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5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Red de Grafo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ubTitle"/>
          </p:nvPr>
        </p:nvSpPr>
        <p:spPr>
          <a:xfrm>
            <a:off x="2692440" y="3657600"/>
            <a:ext cx="68151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1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Implementación de la red de grafos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2692440" y="1871280"/>
            <a:ext cx="6815160" cy="1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s-ES" sz="5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Capa de Red y Conectividad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2692440" y="3657600"/>
            <a:ext cx="681516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2100" strike="noStrike" u="none">
                <a:solidFill>
                  <a:schemeClr val="dk1"/>
                </a:solidFill>
                <a:effectLst/>
                <a:uFillTx/>
                <a:latin typeface="Garamond"/>
              </a:rPr>
              <a:t>Primera Instancia del grafo.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921240" y="96120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RedServidores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40" name="Marcador de contenido 4" descr=""/>
          <p:cNvPicPr/>
          <p:nvPr/>
        </p:nvPicPr>
        <p:blipFill>
          <a:blip r:embed="rId1"/>
          <a:stretch/>
        </p:blipFill>
        <p:spPr>
          <a:xfrm>
            <a:off x="4933080" y="649440"/>
            <a:ext cx="6493680" cy="55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829800" y="2972520"/>
            <a:ext cx="3860280" cy="11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Modela la conectividad bidireccional de la infraestructura de servidores, lo cual es fundamental para el enrutamiento de mensajes.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42" name="Imagen 5" descr=""/>
          <p:cNvPicPr/>
          <p:nvPr/>
        </p:nvPicPr>
        <p:blipFill>
          <a:blip r:embed="rId2"/>
          <a:stretch/>
        </p:blipFill>
        <p:spPr>
          <a:xfrm>
            <a:off x="729360" y="4107240"/>
            <a:ext cx="4101840" cy="201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Nodo Servidor</a:t>
            </a:r>
            <a:br>
              <a:rPr sz="2400"/>
            </a:b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1293840" y="291816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NodoServidor: Adapta un objeto Servidor para ser un nodo en el grafo de la red.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45" name="Imagen 5" descr=""/>
          <p:cNvPicPr/>
          <p:nvPr/>
        </p:nvPicPr>
        <p:blipFill>
          <a:blip r:embed="rId1"/>
          <a:stretch/>
        </p:blipFill>
        <p:spPr>
          <a:xfrm>
            <a:off x="5836320" y="2246400"/>
            <a:ext cx="5087160" cy="232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24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Clase Conexión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47" name="Marcador de contenido 4" descr=""/>
          <p:cNvPicPr/>
          <p:nvPr/>
        </p:nvPicPr>
        <p:blipFill>
          <a:blip r:embed="rId1"/>
          <a:stretch/>
        </p:blipFill>
        <p:spPr>
          <a:xfrm>
            <a:off x="5802480" y="790560"/>
            <a:ext cx="5058000" cy="232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1293840" y="3341520"/>
            <a:ext cx="3718080" cy="21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Representa la arista que une dos NodoServidor en la red.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  <p:pic>
        <p:nvPicPr>
          <p:cNvPr id="249" name="Imagen 5" descr=""/>
          <p:cNvPicPr/>
          <p:nvPr/>
        </p:nvPicPr>
        <p:blipFill>
          <a:blip r:embed="rId2"/>
          <a:stretch/>
        </p:blipFill>
        <p:spPr>
          <a:xfrm>
            <a:off x="5802480" y="3341520"/>
            <a:ext cx="5058000" cy="280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293840" y="103860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Búsqueda de Ruta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51" name="Marcador de contenido 4" descr=""/>
          <p:cNvPicPr/>
          <p:nvPr/>
        </p:nvPicPr>
        <p:blipFill>
          <a:blip r:embed="rId1"/>
          <a:stretch/>
        </p:blipFill>
        <p:spPr>
          <a:xfrm>
            <a:off x="5309640" y="824040"/>
            <a:ext cx="5960160" cy="512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algn="ctr" defTabSz="457200">
              <a:lnSpc>
                <a:spcPct val="15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Utiliza Búsqueda en Amplitud (BFS) (encontrar_ruta_bfs) para determinar la ruta más corta (o simplemente una ruta) entre el servidor de origen y el de destino. Se eligió por su capacidad de encontrar el camino más corto (en términos del menor número de saltos) entre servidores, simulando un enrutamiento de red eficiente.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293840" y="109512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Transferencia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54" name="Marcador de contenido 4" descr=""/>
          <p:cNvPicPr/>
          <p:nvPr/>
        </p:nvPicPr>
        <p:blipFill>
          <a:blip r:embed="rId1"/>
          <a:stretch/>
        </p:blipFill>
        <p:spPr>
          <a:xfrm>
            <a:off x="5155920" y="869400"/>
            <a:ext cx="6147000" cy="502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El método enviar_mensaje_por_red utiliza la ruta encontrada por BFS para simular el enrutamiento del mensaje hasta el servidor de destino.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293840" y="138852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Iniciar Sesión(Desde Red)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57" name="Marcador de contenido 4" descr=""/>
          <p:cNvPicPr/>
          <p:nvPr/>
        </p:nvPicPr>
        <p:blipFill>
          <a:blip r:embed="rId1"/>
          <a:stretch/>
        </p:blipFill>
        <p:spPr>
          <a:xfrm>
            <a:off x="5215320" y="1128960"/>
            <a:ext cx="5672880" cy="458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71808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Método para ingresar sesión desde la red.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028520" y="1399680"/>
            <a:ext cx="371808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457200">
              <a:lnSpc>
                <a:spcPct val="150000"/>
              </a:lnSpc>
              <a:buNone/>
            </a:pPr>
            <a:r>
              <a:rPr b="1" lang="es-ES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Registrar Usuario(Desde Red)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Garamond"/>
            </a:endParaRPr>
          </a:p>
        </p:txBody>
      </p:sp>
      <p:pic>
        <p:nvPicPr>
          <p:cNvPr id="260" name="Marcador de contenido 4" descr=""/>
          <p:cNvPicPr/>
          <p:nvPr/>
        </p:nvPicPr>
        <p:blipFill>
          <a:blip r:embed="rId1"/>
          <a:stretch/>
        </p:blipFill>
        <p:spPr>
          <a:xfrm>
            <a:off x="5125320" y="1128960"/>
            <a:ext cx="5763240" cy="46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1293840" y="3031200"/>
            <a:ext cx="3187440" cy="24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2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s-ES" sz="16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aramond"/>
              </a:rPr>
              <a:t>Método para registrar usuarios por la red. </a:t>
            </a: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  <a:p>
            <a:pPr indent="0" algn="ctr" defTabSz="4572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
</Relationships>
</file>

<file path=ppt/theme/theme1.xml><?xml version="1.0" encoding="utf-8"?>
<a:theme xmlns:a="http://schemas.openxmlformats.org/drawingml/2006/main" xmlns:r="http://schemas.openxmlformats.org/officeDocument/2006/relationships" name="Orgánico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 pitchFamily="0" charset="1"/>
        <a:ea typeface=""/>
        <a:cs typeface=""/>
      </a:majorFont>
      <a:minorFont>
        <a:latin typeface="Garamond" panose="020204040303010108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531</TotalTime>
  <Application>LibreOffice/25.2.6.2$Windows_X86_64 LibreOffice_project/729c5bfe710f5eb71ed3bbde9e06a6065e9c6c5d</Application>
  <AppVersion>15.0000</AppVersion>
  <Words>808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2025-11-21T18:35:28Z</dcterms:created>
  <dc:creator>Ruben</dc:creator>
  <dc:description/>
  <dc:language>es-AR</dc:language>
  <cp:lastModifiedBy/>
  <dcterms:modified xsi:type="dcterms:W3CDTF">2025-11-22T09:39:43Z</dcterms:modified>
  <cp:revision>22</cp:revision>
  <dc:subject/>
  <dc:title>Cliente de Correo Electrónico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23</vt:i4>
  </property>
</Properties>
</file>